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5" r:id="rId4"/>
    <p:sldId id="298" r:id="rId5"/>
    <p:sldId id="297" r:id="rId6"/>
    <p:sldId id="261" r:id="rId7"/>
    <p:sldId id="291" r:id="rId8"/>
    <p:sldId id="263" r:id="rId9"/>
    <p:sldId id="273" r:id="rId10"/>
    <p:sldId id="296" r:id="rId11"/>
    <p:sldId id="300" r:id="rId12"/>
    <p:sldId id="283" r:id="rId13"/>
    <p:sldId id="290" r:id="rId14"/>
    <p:sldId id="284" r:id="rId15"/>
    <p:sldId id="285" r:id="rId16"/>
    <p:sldId id="287" r:id="rId17"/>
    <p:sldId id="265" r:id="rId18"/>
    <p:sldId id="292" r:id="rId19"/>
    <p:sldId id="294" r:id="rId20"/>
    <p:sldId id="289" r:id="rId21"/>
    <p:sldId id="267" r:id="rId22"/>
    <p:sldId id="295" r:id="rId23"/>
    <p:sldId id="293" r:id="rId24"/>
    <p:sldId id="279" r:id="rId25"/>
    <p:sldId id="277" r:id="rId26"/>
    <p:sldId id="280" r:id="rId27"/>
    <p:sldId id="281" r:id="rId28"/>
    <p:sldId id="268" r:id="rId29"/>
    <p:sldId id="2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676767"/>
    <a:srgbClr val="FAF0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West" userId="8d53fe141fb0f703" providerId="LiveId" clId="{5C8AEBDE-2980-4E0A-8545-C5E74DAB3613}"/>
    <pc:docChg chg="delSld">
      <pc:chgData name="Craig West" userId="8d53fe141fb0f703" providerId="LiveId" clId="{5C8AEBDE-2980-4E0A-8545-C5E74DAB3613}" dt="2025-12-10T13:21:28.462" v="0" actId="47"/>
      <pc:docMkLst>
        <pc:docMk/>
      </pc:docMkLst>
      <pc:sldChg chg="del">
        <pc:chgData name="Craig West" userId="8d53fe141fb0f703" providerId="LiveId" clId="{5C8AEBDE-2980-4E0A-8545-C5E74DAB3613}" dt="2025-12-10T13:21:28.462" v="0" actId="47"/>
        <pc:sldMkLst>
          <pc:docMk/>
          <pc:sldMk cId="1549258495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441D-C48A-EAEF-C81C-A8436A666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90243-B3F6-EB2E-31F9-22051F8B8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049C5-0E4F-9E60-7B47-BBB40AE7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0D28-C6ED-1568-F8AF-3FFA865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B145-53CC-3B1D-015F-B17A59CC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96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8941-8402-9FA5-6CAA-6FBDAF79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6C27-4CB8-F13D-040F-A734CF7D3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461A-FBA5-164D-F4D8-EEFF7665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5F070-1C89-053C-F77D-8F749F06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8C556-DEDF-1889-A606-5B4AED56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5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82CE-CE86-501D-D574-EAD49A14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02754-4D74-3776-BD68-41D984B3F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5F6EC-49F9-4525-C22A-15DE545F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E6EBF-C6DF-14B3-2F27-56BD51A9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E9B6B-1B7E-5C71-AB60-E65FF643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04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B18-F254-EE52-9926-04C2F393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B536-B9A1-852F-350E-22A590687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F50BC-551E-40EA-83F4-5543F996A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4A376-9215-F411-5C25-7769A986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36E61-1D23-33AD-5399-91F8B16C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E90AB-BA98-5EF4-1D6D-0765E4CC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5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F011-D64D-090C-079F-89425C85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502D-4955-FDA4-3A6D-DF8A78384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7B6FF-3C06-3FE1-A4E2-919C5FD1F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83819-8EA2-7FCC-A3B2-6167CC6EE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9F454-E36C-9D63-FF02-109B27525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BB636-3CFC-80A3-B778-D327ECCB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A3C15-8C7D-CDE8-BB53-C18E078A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9C6D5-A43B-3F7D-2C39-5AC71192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83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B1E6-B11B-73B5-44BD-A1B55449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EE820-462E-3882-2FB8-BD8C66B6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61C54-F33D-8002-442C-77B0A828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2F52C-7267-5988-077E-F89EAD29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9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254D5-4248-E9AB-B909-7EE41138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93759-FC42-D9A9-6AEF-E3F23A10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667ED-3667-39A4-5734-9BE60A3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30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3BE0-EA29-5C38-A587-FA74AB2E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D9BFD-494B-F83B-287A-A94D65E05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EF074-F04E-8282-8AEC-189DF0F5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1BFE1-AE60-6DFC-2433-A8F3D071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DEE8E-8218-6F94-2BF2-7A17766E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D638-11FD-AA1B-1BC4-FE1620DE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3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308D-FDF1-1E2D-63E2-E4E71B11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146BF-5314-23ED-5D37-98EB4F4AF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B35A6-08E9-62E2-FC17-0528F6126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ABBC-6369-E192-9B29-CAD2DA93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6A36D-7668-2AA5-EA45-0059BE8E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7D1F9-75B6-4D84-0A59-34F94D74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06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AA11-65D8-ADB6-8A49-C20D82A8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8F60C-B9BC-E6AD-B22B-EC6198CDF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7FCFC-DC56-E823-8D98-00A7E7FA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49225-10F7-DE8B-5506-69149BB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D5F7-EE72-95F9-E215-2760F715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32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E90A7-10A5-EB91-C4A4-E9710B5B7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F12AB-D2FD-BF8F-78B9-D73C2507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604CE-3906-0838-B1C1-D5D3F5B3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DD754-CAB9-A4E0-8283-D0CB956D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CAFC-0AC4-DE2E-2973-FA47D1F8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5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A687E-E14D-5B06-488A-4DAC5404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B3DC-1FFC-7596-6D00-12C5081D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1B98D-A2B3-C56E-D0EB-5EF295B23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02A21-FE86-45F5-9B8B-75D343822DB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F6E5-AEA1-0818-5E83-CC0E17BBC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8594-1EB3-2176-4D4B-E66BE62EF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7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mcpservers.org/servers/modelcontextprotocol/fetch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adkol/crm-data-agent/blob/main/src/agents/data_agent/prompts/crm_business_analyst.py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2188-6D11-9393-FF28-09CC4D2E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AI Agents in the 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217B-6C60-689B-D97F-62DAE026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https://craig-west.netlify.app/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https://evaluating-ai-agents.com/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Talk Slides and Repo: 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https://github.com/Python-Test-Engineer/earl2025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This also contains links to a video of the BrighonPy 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talk/workshop on </a:t>
            </a:r>
            <a:r>
              <a:rPr lang="en-GB" sz="2000" b="1" dirty="0">
                <a:solidFill>
                  <a:srgbClr val="3A3A3A"/>
                </a:solidFill>
              </a:rPr>
              <a:t>‘AI as API’ </a:t>
            </a:r>
            <a:r>
              <a:rPr lang="en-GB" sz="2000" dirty="0">
                <a:solidFill>
                  <a:srgbClr val="3A3A3A"/>
                </a:solidFill>
              </a:rPr>
              <a:t>and the repo for the 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PyData Southampton Meetup </a:t>
            </a:r>
            <a:r>
              <a:rPr lang="en-GB" sz="2000" b="1" dirty="0">
                <a:solidFill>
                  <a:srgbClr val="3A3A3A"/>
                </a:solidFill>
              </a:rPr>
              <a:t>‘AI Agents in The Data Pipeline’ 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as well as additional resources.</a:t>
            </a:r>
          </a:p>
          <a:p>
            <a:endParaRPr lang="en-GB" dirty="0"/>
          </a:p>
        </p:txBody>
      </p:sp>
      <p:pic>
        <p:nvPicPr>
          <p:cNvPr id="5" name="Picture 4" descr="A person in a vest&#10;&#10;AI-generated content may be incorrect.">
            <a:extLst>
              <a:ext uri="{FF2B5EF4-FFF2-40B4-BE49-F238E27FC236}">
                <a16:creationId xmlns:a16="http://schemas.microsoft.com/office/drawing/2014/main" id="{C5699462-BEF0-2C2F-B977-80AD8BEDB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523" y="1413031"/>
            <a:ext cx="2309351" cy="2007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413D5-91FF-176F-D188-6D08F0B88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37523" y="3549142"/>
            <a:ext cx="2642419" cy="264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BE0FD-ADCA-CCF5-0B57-5D8DF560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156C-A5C9-AA8F-EEF2-77BEE786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Desired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B9BD8-BC61-C573-3980-DB156FB91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To better understand the Agent Landscape, its terminology, basis and uses. </a:t>
            </a:r>
          </a:p>
          <a:p>
            <a:pPr marL="0" indent="0">
              <a:buNone/>
            </a:pPr>
            <a:endParaRPr lang="en-GB" sz="8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To demystify and simplify what an Agent is.</a:t>
            </a:r>
          </a:p>
          <a:p>
            <a:pPr marL="0" indent="0">
              <a:buNone/>
            </a:pPr>
            <a:endParaRPr lang="en-GB" sz="8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To see the uses of </a:t>
            </a:r>
            <a:r>
              <a:rPr lang="en-GB" sz="3200" b="1" dirty="0">
                <a:solidFill>
                  <a:srgbClr val="3A3A3A"/>
                </a:solidFill>
              </a:rPr>
              <a:t>AI Agents in the Data Pipeline</a:t>
            </a:r>
            <a:r>
              <a:rPr lang="en-GB" sz="3200" dirty="0">
                <a:solidFill>
                  <a:srgbClr val="3A3A3A"/>
                </a:solidFill>
              </a:rPr>
              <a:t> and the likely future of Data Pipeline applications.</a:t>
            </a:r>
          </a:p>
          <a:p>
            <a:pPr marL="0" indent="0">
              <a:buNone/>
            </a:pPr>
            <a:endParaRPr lang="en-GB" sz="8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This is a ‘fly by’ rather than ‘deep dive’. The repo has more detailed examples and links to help you go  further and deeper.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804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23AA4-507E-D8B3-7DEB-D9083974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CC66-10D3-E183-1C5E-7DBAE875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Raw code implementation of an Agent</a:t>
            </a:r>
          </a:p>
        </p:txBody>
      </p:sp>
      <p:pic>
        <p:nvPicPr>
          <p:cNvPr id="5" name="Picture 4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4C2BFCCB-3F23-3098-3C1E-2D76213CD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57775" y="1847529"/>
            <a:ext cx="2466975" cy="1847850"/>
          </a:xfrm>
          <a:prstGeom prst="rect">
            <a:avLst/>
          </a:prstGeom>
        </p:spPr>
      </p:pic>
      <p:pic>
        <p:nvPicPr>
          <p:cNvPr id="7" name="Picture 6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BDAFD253-325D-AA4F-E8B1-F2175AD4E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32" y="1847530"/>
            <a:ext cx="2466975" cy="1847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A72E3-B4A4-739E-FAF5-D9B5DFCEC120}"/>
              </a:ext>
            </a:extLst>
          </p:cNvPr>
          <p:cNvSpPr txBox="1"/>
          <p:nvPr/>
        </p:nvSpPr>
        <p:spPr>
          <a:xfrm>
            <a:off x="750014" y="4099388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No more difficult than what we do currently – just 180 degrees different</a:t>
            </a: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53323BF1-393A-213D-B6C3-D6FAA296990D}"/>
              </a:ext>
            </a:extLst>
          </p:cNvPr>
          <p:cNvSpPr/>
          <p:nvPr/>
        </p:nvSpPr>
        <p:spPr>
          <a:xfrm>
            <a:off x="4224046" y="1899809"/>
            <a:ext cx="3184989" cy="1743290"/>
          </a:xfrm>
          <a:prstGeom prst="curved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AE486-5F44-81B6-3E5C-D762ABEA4AC2}"/>
              </a:ext>
            </a:extLst>
          </p:cNvPr>
          <p:cNvSpPr txBox="1"/>
          <p:nvPr/>
        </p:nvSpPr>
        <p:spPr>
          <a:xfrm>
            <a:off x="750014" y="5078897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“It doesn’t get any easier – just different” - Anon </a:t>
            </a:r>
          </a:p>
        </p:txBody>
      </p:sp>
    </p:spTree>
    <p:extLst>
      <p:ext uri="{BB962C8B-B14F-4D97-AF65-F5344CB8AC3E}">
        <p14:creationId xmlns:p14="http://schemas.microsoft.com/office/powerpoint/2010/main" val="312244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3177E-9923-FE25-C0D5-227D46166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5DC67-ADA8-1FC2-1A6A-8D427868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Raw code implementation of an 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1A7E0-034B-F6BF-2DCD-50420590A298}"/>
              </a:ext>
            </a:extLst>
          </p:cNvPr>
          <p:cNvSpPr txBox="1"/>
          <p:nvPr/>
        </p:nvSpPr>
        <p:spPr>
          <a:xfrm>
            <a:off x="919314" y="1757404"/>
            <a:ext cx="110652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/>
              <a:t>Just one API endpoint – ‘AI as API’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/>
              <a:t>Instructions are written on client side and sent with request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/>
              <a:t>Use Natural Language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400" dirty="0"/>
              <a:t>An example prompt…</a:t>
            </a:r>
          </a:p>
        </p:txBody>
      </p:sp>
    </p:spTree>
    <p:extLst>
      <p:ext uri="{BB962C8B-B14F-4D97-AF65-F5344CB8AC3E}">
        <p14:creationId xmlns:p14="http://schemas.microsoft.com/office/powerpoint/2010/main" val="177569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A25C6-976C-C0B9-F0CA-A9DF5234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4B778B-094A-B174-63FC-3298F8901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914" y="202896"/>
            <a:ext cx="7702172" cy="64522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783DC3-8F3E-63B0-F158-14B6931E6CDB}"/>
              </a:ext>
            </a:extLst>
          </p:cNvPr>
          <p:cNvSpPr txBox="1"/>
          <p:nvPr/>
        </p:nvSpPr>
        <p:spPr>
          <a:xfrm>
            <a:off x="3741576" y="289249"/>
            <a:ext cx="6344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06_demo_prompt_google_crm.md</a:t>
            </a:r>
          </a:p>
        </p:txBody>
      </p:sp>
    </p:spTree>
    <p:extLst>
      <p:ext uri="{BB962C8B-B14F-4D97-AF65-F5344CB8AC3E}">
        <p14:creationId xmlns:p14="http://schemas.microsoft.com/office/powerpoint/2010/main" val="202653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404B2-BE35-5A3B-426A-8BDDD656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5709-02C1-27DD-6DDD-01E0B838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2258F-F0A1-CB43-82E4-BA6F9A5F3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5901"/>
            <a:ext cx="10596715" cy="5444969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With code examples where appropriate:</a:t>
            </a:r>
            <a:endParaRPr lang="en-GB" sz="8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AI Agents from scratch – a POST API Request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Understand what Tool/Function calling are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Agentic Patterns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Model Context Protocol – changing app architecture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Demos of some patterns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Final demo of Cline building a data pipeline from scratch and producing a Business Intelligence report form the charts and graphs.</a:t>
            </a: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916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791B-8DEA-52AA-EE90-B39E7103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0D4-47D2-5718-8DC0-05BF3D23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Model costs</a:t>
            </a:r>
          </a:p>
        </p:txBody>
      </p:sp>
      <p:pic>
        <p:nvPicPr>
          <p:cNvPr id="4" name="Content Placeholder 3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C05A1683-F503-D79D-B919-D7BBD1D74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676" y="1097729"/>
            <a:ext cx="8280444" cy="4850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014E3-FCA2-D8C8-C6A2-127E18ED02B5}"/>
              </a:ext>
            </a:extLst>
          </p:cNvPr>
          <p:cNvSpPr txBox="1"/>
          <p:nvPr/>
        </p:nvSpPr>
        <p:spPr>
          <a:xfrm>
            <a:off x="147484" y="6037006"/>
            <a:ext cx="11572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/>
              <a:t>Cost of a unit of ‘intelligence has dropped ~ 99% in last two years and is 10x a year (anecdotal)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55B19-D2F6-8058-89EC-D3ADC6419387}"/>
              </a:ext>
            </a:extLst>
          </p:cNvPr>
          <p:cNvSpPr txBox="1"/>
          <p:nvPr/>
        </p:nvSpPr>
        <p:spPr>
          <a:xfrm>
            <a:off x="7654247" y="3770616"/>
            <a:ext cx="378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Models have become increasingly more capable and ‘intelligent’.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AE12D-78AF-C433-0B30-1E35B82B1C36}"/>
              </a:ext>
            </a:extLst>
          </p:cNvPr>
          <p:cNvSpPr txBox="1"/>
          <p:nvPr/>
        </p:nvSpPr>
        <p:spPr>
          <a:xfrm>
            <a:off x="4040154" y="78966"/>
            <a:ext cx="78470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final Cline demo the cost per intelligence has dropped by a factor of 2-4 in last 3 months</a:t>
            </a:r>
          </a:p>
        </p:txBody>
      </p:sp>
    </p:spTree>
    <p:extLst>
      <p:ext uri="{BB962C8B-B14F-4D97-AF65-F5344CB8AC3E}">
        <p14:creationId xmlns:p14="http://schemas.microsoft.com/office/powerpoint/2010/main" val="97525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7564E-77B5-A1B3-4D8A-5BB5653D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5CE4-27DE-F4A8-F6E6-AB0BFE9E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an AI Agent?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5945021-DA27-E6E7-4078-598B7B83A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67" y="3621288"/>
            <a:ext cx="7819867" cy="2002649"/>
          </a:xfrm>
          <a:solidFill>
            <a:srgbClr val="FAF0E6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FE6C9-06DD-BD42-AAA1-C250315A7DD0}"/>
              </a:ext>
            </a:extLst>
          </p:cNvPr>
          <p:cNvSpPr txBox="1"/>
          <p:nvPr/>
        </p:nvSpPr>
        <p:spPr>
          <a:xfrm>
            <a:off x="1006866" y="2782669"/>
            <a:ext cx="618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Anthropic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74A54-4BBE-E586-ECF8-9E088A1BAD42}"/>
              </a:ext>
            </a:extLst>
          </p:cNvPr>
          <p:cNvSpPr txBox="1"/>
          <p:nvPr/>
        </p:nvSpPr>
        <p:spPr>
          <a:xfrm>
            <a:off x="1006866" y="1923040"/>
            <a:ext cx="10428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Many definitions but people opt for ‘Agentic Apps’</a:t>
            </a:r>
          </a:p>
        </p:txBody>
      </p:sp>
    </p:spTree>
    <p:extLst>
      <p:ext uri="{BB962C8B-B14F-4D97-AF65-F5344CB8AC3E}">
        <p14:creationId xmlns:p14="http://schemas.microsoft.com/office/powerpoint/2010/main" val="320218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BF0B7-F482-2446-C127-C90E4C44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3DC5-BF67-7FA4-0059-A3065D06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Raw code implementation of an Agent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0FB64-851F-A3BD-15E6-081CA203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599593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C3E06EB-B068-8B1E-DAD0-22AA8B73F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4" y="1516027"/>
            <a:ext cx="10169976" cy="2554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D56192-ABBE-2091-88D5-4A8E317C0F2D}"/>
              </a:ext>
            </a:extLst>
          </p:cNvPr>
          <p:cNvSpPr txBox="1"/>
          <p:nvPr/>
        </p:nvSpPr>
        <p:spPr>
          <a:xfrm>
            <a:off x="826008" y="5520044"/>
            <a:ext cx="101699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Let’s look at </a:t>
            </a:r>
            <a:r>
              <a:rPr lang="en-GB" sz="3200" dirty="0">
                <a:latin typeface="Consolas" panose="020B0609020204030204" pitchFamily="49" charset="0"/>
              </a:rPr>
              <a:t>01_raw_post_request.py </a:t>
            </a:r>
            <a:r>
              <a:rPr lang="en-GB" sz="3200" dirty="0"/>
              <a:t>in the repo…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0E9E0-3E69-222D-D1D1-3AA93F4E5B82}"/>
              </a:ext>
            </a:extLst>
          </p:cNvPr>
          <p:cNvSpPr txBox="1"/>
          <p:nvPr/>
        </p:nvSpPr>
        <p:spPr>
          <a:xfrm>
            <a:off x="826008" y="4480199"/>
            <a:ext cx="101699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We saw an example of a prompt earlier – ‘payload’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562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A6612-87DC-2CBE-FBAA-EA5FEBC2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6EBFC-5D59-3933-7858-ED6A34042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599593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A01CC-4033-40A6-CFC2-90F79BC9E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086" y="426827"/>
            <a:ext cx="10589942" cy="5992634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EDCE84B9-A78C-3A76-ED4B-41EBC59068D2}"/>
              </a:ext>
            </a:extLst>
          </p:cNvPr>
          <p:cNvSpPr/>
          <p:nvPr/>
        </p:nvSpPr>
        <p:spPr>
          <a:xfrm rot="5400000">
            <a:off x="5635689" y="1618663"/>
            <a:ext cx="690465" cy="1749687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B8900-4207-5BE1-E8CC-3C960EEE6EA8}"/>
              </a:ext>
            </a:extLst>
          </p:cNvPr>
          <p:cNvSpPr txBox="1"/>
          <p:nvPr/>
        </p:nvSpPr>
        <p:spPr>
          <a:xfrm>
            <a:off x="5486399" y="1033413"/>
            <a:ext cx="5169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Tell me about Brighton…</a:t>
            </a:r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3782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99CB-B7FE-D269-5053-A318EA45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6C13F1D-73CA-929F-46E5-F1983D274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814" y="1106273"/>
            <a:ext cx="5171186" cy="4832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B59F7-7AA3-F77B-5C7B-D1E26FF52C1D}"/>
              </a:ext>
            </a:extLst>
          </p:cNvPr>
          <p:cNvSpPr txBox="1"/>
          <p:nvPr/>
        </p:nvSpPr>
        <p:spPr>
          <a:xfrm>
            <a:off x="202162" y="1229384"/>
            <a:ext cx="81134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Given an article title, determine if it is about AI (ROUTER) and if so start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Take title and create article of N words (EXPANDER)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 a specified language (TRANSLATOR)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Ensure article is not sensational (EDITOR)</a:t>
            </a:r>
          </a:p>
          <a:p>
            <a:endParaRPr lang="en-GB" sz="2400" dirty="0"/>
          </a:p>
          <a:p>
            <a:r>
              <a:rPr lang="en-GB" sz="2400" dirty="0"/>
              <a:t>A ‘good article’ – OMITTED IN DEMO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/>
          </a:p>
          <a:p>
            <a:r>
              <a:rPr lang="en-GB" sz="2400" dirty="0"/>
              <a:t>PUBLISH = YES only if last three are YES in EDITOR</a:t>
            </a:r>
          </a:p>
          <a:p>
            <a:endParaRPr lang="en-GB" sz="2400" i="1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9024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51D2A-02B5-5CCA-C9C5-B941C73F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1661-39EF-3100-35DE-A22E3B18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Prompt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39117-0E78-393C-CF46-ABB7F6331B86}"/>
              </a:ext>
            </a:extLst>
          </p:cNvPr>
          <p:cNvSpPr txBox="1"/>
          <p:nvPr/>
        </p:nvSpPr>
        <p:spPr>
          <a:xfrm>
            <a:off x="919314" y="1366462"/>
            <a:ext cx="99610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Essentially a set of instructions…</a:t>
            </a:r>
          </a:p>
          <a:p>
            <a:endParaRPr lang="en-GB" sz="3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“Tell me about Data Analytics in 100 words…” </a:t>
            </a:r>
            <a:r>
              <a:rPr lang="en-GB" sz="3200" dirty="0">
                <a:solidFill>
                  <a:srgbClr val="3A3A3A"/>
                </a:solidFill>
              </a:rPr>
              <a:t>will give a pretrained response…</a:t>
            </a:r>
          </a:p>
          <a:p>
            <a:endParaRPr lang="en-GB" sz="3200" dirty="0"/>
          </a:p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“ Tell me about Data Analytics and how it can help me with our sales analysis for the last quarter…” </a:t>
            </a:r>
            <a:r>
              <a:rPr lang="en-GB" sz="3200" dirty="0"/>
              <a:t>will give us a response of:  </a:t>
            </a:r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“I need more info…” </a:t>
            </a:r>
            <a:r>
              <a:rPr lang="en-GB" sz="3200" dirty="0"/>
              <a:t>as it has not been trained on our data.”</a:t>
            </a:r>
          </a:p>
        </p:txBody>
      </p:sp>
    </p:spTree>
    <p:extLst>
      <p:ext uri="{BB962C8B-B14F-4D97-AF65-F5344CB8AC3E}">
        <p14:creationId xmlns:p14="http://schemas.microsoft.com/office/powerpoint/2010/main" val="509993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868BA-1FA8-EBCC-86D9-3ACBD725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8864-E449-91BB-7CCA-430EEEA7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Context Engineering</a:t>
            </a:r>
          </a:p>
        </p:txBody>
      </p:sp>
      <p:pic>
        <p:nvPicPr>
          <p:cNvPr id="6" name="Picture 5" descr="A close-up of a website&#10;&#10;AI-generated content may be incorrect.">
            <a:extLst>
              <a:ext uri="{FF2B5EF4-FFF2-40B4-BE49-F238E27FC236}">
                <a16:creationId xmlns:a16="http://schemas.microsoft.com/office/drawing/2014/main" id="{7B403DEF-8780-7F55-25B4-2FB3830C9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52" y="1762607"/>
            <a:ext cx="10455151" cy="362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92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E9F1D-F9B0-DA1A-78CD-C33DF147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FE2A-3DB5-5136-73B2-E1137CA0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Supplying more Context (information)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D288D-569F-D60C-8A43-685A113030E3}"/>
              </a:ext>
            </a:extLst>
          </p:cNvPr>
          <p:cNvSpPr txBox="1"/>
          <p:nvPr/>
        </p:nvSpPr>
        <p:spPr>
          <a:xfrm>
            <a:off x="919314" y="1438381"/>
            <a:ext cx="99610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“Tell me about Data Analytics and </a:t>
            </a:r>
            <a:r>
              <a:rPr lang="en-GB" sz="3200" b="1" i="1" dirty="0">
                <a:solidFill>
                  <a:schemeClr val="accent2">
                    <a:lumMod val="75000"/>
                  </a:schemeClr>
                </a:solidFill>
              </a:rPr>
              <a:t>here is some data from our company</a:t>
            </a:r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, please analyse…”</a:t>
            </a:r>
          </a:p>
          <a:p>
            <a:endParaRPr lang="en-GB" sz="3200" dirty="0"/>
          </a:p>
          <a:p>
            <a:r>
              <a:rPr lang="en-GB" sz="3200" dirty="0"/>
              <a:t>This is context engineering where we supply appropriate context for the Agent. </a:t>
            </a:r>
          </a:p>
          <a:p>
            <a:endParaRPr lang="en-GB" sz="3200" dirty="0"/>
          </a:p>
          <a:p>
            <a:r>
              <a:rPr lang="en-GB" sz="3200" dirty="0"/>
              <a:t>RAG is Retrieval Augmented Generation and is RETRIEVING extra content from a range of sources for the prompt – not just Vector Databases.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8B948B6-10B8-C7D7-2192-CE381BA299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807436"/>
              </p:ext>
            </p:extLst>
          </p:nvPr>
        </p:nvGraphicFramePr>
        <p:xfrm>
          <a:off x="92075" y="92075"/>
          <a:ext cx="11811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181065" imgH="518018" progId="Package">
                  <p:embed/>
                </p:oleObj>
              </mc:Choice>
              <mc:Fallback>
                <p:oleObj name="Packager Shell Object" showAsIcon="1" r:id="rId2" imgW="1181065" imgH="518018" progId="Packag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8B948B6-10B8-C7D7-2192-CE381BA299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075" y="92075"/>
                        <a:ext cx="11811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585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AF258-6642-08C5-D4DA-FA5BA3DE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3726-1E1A-3007-AD79-64578B8B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Tool/Function calling</a:t>
            </a:r>
            <a:r>
              <a:rPr lang="en-GB">
                <a:solidFill>
                  <a:srgbClr val="676767"/>
                </a:solidFill>
              </a:rPr>
              <a:t>? 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1BDFC-E84D-DF43-6FE4-0563152F41EC}"/>
              </a:ext>
            </a:extLst>
          </p:cNvPr>
          <p:cNvSpPr txBox="1"/>
          <p:nvPr/>
        </p:nvSpPr>
        <p:spPr>
          <a:xfrm>
            <a:off x="919313" y="1955299"/>
            <a:ext cx="9961019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200" dirty="0"/>
          </a:p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“Tell me about Data Analytics and here is some data…</a:t>
            </a:r>
          </a:p>
          <a:p>
            <a:endParaRPr lang="en-GB" sz="1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Also compare our share price with {company X}…”</a:t>
            </a:r>
          </a:p>
          <a:p>
            <a:endParaRPr lang="en-GB" sz="1100" dirty="0"/>
          </a:p>
          <a:p>
            <a:r>
              <a:rPr lang="en-GB" sz="3200" dirty="0"/>
              <a:t>We don’t know this information at time of the request as it will vary with each query.</a:t>
            </a:r>
          </a:p>
          <a:p>
            <a:endParaRPr lang="en-GB" sz="1200" dirty="0"/>
          </a:p>
          <a:p>
            <a:r>
              <a:rPr lang="en-GB" sz="3200" dirty="0"/>
              <a:t>We need a tool/function the Agent can use to get the share price… </a:t>
            </a:r>
            <a:r>
              <a:rPr lang="en-GB" sz="3200" b="1" dirty="0"/>
              <a:t>“tool/function calling”</a:t>
            </a:r>
          </a:p>
          <a:p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92F7E-D232-E7FC-2BFF-DF740EBA7039}"/>
              </a:ext>
            </a:extLst>
          </p:cNvPr>
          <p:cNvSpPr txBox="1"/>
          <p:nvPr/>
        </p:nvSpPr>
        <p:spPr>
          <a:xfrm>
            <a:off x="919314" y="1223639"/>
            <a:ext cx="99610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Tool/Function Calling – </a:t>
            </a:r>
          </a:p>
          <a:p>
            <a:pPr algn="ctr"/>
            <a:r>
              <a:rPr lang="en-GB" sz="3200" b="1" dirty="0"/>
              <a:t>adding more context/info on demand</a:t>
            </a:r>
            <a:endParaRPr lang="en-GB" sz="4400" b="1" dirty="0"/>
          </a:p>
        </p:txBody>
      </p:sp>
    </p:spTree>
    <p:extLst>
      <p:ext uri="{BB962C8B-B14F-4D97-AF65-F5344CB8AC3E}">
        <p14:creationId xmlns:p14="http://schemas.microsoft.com/office/powerpoint/2010/main" val="711814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8DA7F-B1D8-D9A8-D01C-792B7932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C8CA-586F-74A1-8AC1-C7EAB2F2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Reflection Pattern - looping</a:t>
            </a:r>
          </a:p>
        </p:txBody>
      </p:sp>
      <p:pic>
        <p:nvPicPr>
          <p:cNvPr id="6" name="Picture 5" descr="A diagram of a reflection process&#10;&#10;AI-generated content may be incorrect.">
            <a:extLst>
              <a:ext uri="{FF2B5EF4-FFF2-40B4-BE49-F238E27FC236}">
                <a16:creationId xmlns:a16="http://schemas.microsoft.com/office/drawing/2014/main" id="{21DC5963-DA47-441B-EF1E-4528AC981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542" y="1155517"/>
            <a:ext cx="9799144" cy="551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37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A3AD7-012D-83EA-2CB2-072646D1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49D9-BE82-BB4F-0187-B6AD05A1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676767"/>
                </a:solidFill>
              </a:rPr>
              <a:t>What is Tool/Function calling?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1442-8ED6-7227-DC19-D4B84CE7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our INSTRUCTIONS we can add:</a:t>
            </a:r>
            <a:endParaRPr lang="en-GB" sz="1200" dirty="0"/>
          </a:p>
          <a:p>
            <a:r>
              <a:rPr lang="en-GB" dirty="0"/>
              <a:t>Here are some useful tools/functions that may be of help at run time. </a:t>
            </a:r>
          </a:p>
          <a:p>
            <a:r>
              <a:rPr lang="en-GB" dirty="0"/>
              <a:t>Let me know which you want to run and with what arguments.</a:t>
            </a:r>
          </a:p>
          <a:p>
            <a:r>
              <a:rPr lang="en-GB" dirty="0"/>
              <a:t>I will run them on my machine and then send this extra CONTEXT back to you (reflection – see image)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03.1_prompt.md </a:t>
            </a:r>
            <a:r>
              <a:rPr lang="en-GB" dirty="0"/>
              <a:t>has the prompt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03.2_demo_tool_calling.py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diagram of a reflection process&#10;&#10;AI-generated content may be incorrect.">
            <a:extLst>
              <a:ext uri="{FF2B5EF4-FFF2-40B4-BE49-F238E27FC236}">
                <a16:creationId xmlns:a16="http://schemas.microsoft.com/office/drawing/2014/main" id="{C9B272DD-453C-DCB6-C6E6-F276D7BBC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29" y="3769799"/>
            <a:ext cx="4385353" cy="246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74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6A409-CD5D-787F-47D9-2B37325F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7E17-64B8-2918-293D-E44B6665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Tool/Function calling?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51D3F2-C087-2A51-5678-B25443516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96107" y="1232102"/>
            <a:ext cx="5884693" cy="5625897"/>
          </a:xfrm>
          <a:solidFill>
            <a:srgbClr val="FAF0E6"/>
          </a:solidFill>
        </p:spPr>
      </p:pic>
    </p:spTree>
    <p:extLst>
      <p:ext uri="{BB962C8B-B14F-4D97-AF65-F5344CB8AC3E}">
        <p14:creationId xmlns:p14="http://schemas.microsoft.com/office/powerpoint/2010/main" val="4129078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7A34F-8566-1D43-1E1A-5B374E47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0901-41B6-AC57-6A2C-EAD6E956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676767"/>
                </a:solidFill>
              </a:rPr>
              <a:t>What is Tool/Function calling?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A7566-C431-C15B-B505-DA5242F18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our INSTRUCTIONS we can add:</a:t>
            </a:r>
            <a:endParaRPr lang="en-GB" sz="1200" dirty="0"/>
          </a:p>
          <a:p>
            <a:r>
              <a:rPr lang="en-GB" dirty="0"/>
              <a:t>Here are some useful tools/functions that may be of help at run time. </a:t>
            </a:r>
          </a:p>
          <a:p>
            <a:r>
              <a:rPr lang="en-GB" dirty="0"/>
              <a:t>Let me know which you want to run and with what arguments.</a:t>
            </a:r>
          </a:p>
          <a:p>
            <a:r>
              <a:rPr lang="en-GB" dirty="0"/>
              <a:t>I will run them on my machine and then send this extra CONTEXT back to you (reflection – see image)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03.1_prompt.md </a:t>
            </a:r>
            <a:r>
              <a:rPr lang="en-GB" dirty="0"/>
              <a:t>has the prompt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03.2_demo_tool_calling.py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diagram of a reflection process&#10;&#10;AI-generated content may be incorrect.">
            <a:extLst>
              <a:ext uri="{FF2B5EF4-FFF2-40B4-BE49-F238E27FC236}">
                <a16:creationId xmlns:a16="http://schemas.microsoft.com/office/drawing/2014/main" id="{979432B5-419A-E653-E633-F2870B5CA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29" y="3769799"/>
            <a:ext cx="4385353" cy="246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64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D4CA3-416B-C283-625F-3094FCF7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787B-41EB-74C8-0FA3-73B99041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Another example of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0581-7FC6-B33E-36A1-393EB16F2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We ask Agent to write some code for us, then pass the response to a critique and the response from that to a final one to combine the two.</a:t>
            </a:r>
          </a:p>
          <a:p>
            <a:endParaRPr lang="en-GB" sz="1100" dirty="0"/>
          </a:p>
          <a:p>
            <a:pPr marL="0" indent="0"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“Generate a Python implementation of imputing missing values in a Pandas DataFrame with the mean of the column.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Ensure there are plenty of comments explaining the code.”</a:t>
            </a:r>
          </a:p>
          <a:p>
            <a:pPr marL="0" indent="0">
              <a:buNone/>
            </a:pPr>
            <a:endParaRPr lang="en-GB" sz="14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04_demo_reflection.ipynb -&gt; three files: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04.1_code.md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04.2_critique.md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04.3_final.md</a:t>
            </a:r>
          </a:p>
          <a:p>
            <a:pPr marL="0" indent="0">
              <a:buNone/>
            </a:pPr>
            <a:endParaRPr lang="en-GB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4458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583BB-A0FB-CF49-992D-EACA12E9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D57F-D071-1261-777E-70463D0A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599F-F9E0-56D0-48D6-18BF3922D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We have seen how we can write tools for the Agent to discover and call as needed.</a:t>
            </a:r>
          </a:p>
          <a:p>
            <a:pPr marL="0" indent="0">
              <a:buNone/>
            </a:pPr>
            <a:r>
              <a:rPr lang="en-GB" sz="4000" dirty="0"/>
              <a:t>What about tools others have created?</a:t>
            </a:r>
          </a:p>
          <a:p>
            <a:pPr marL="0" indent="0">
              <a:buNone/>
            </a:pPr>
            <a:r>
              <a:rPr lang="en-GB" sz="4000" dirty="0"/>
              <a:t>How can an Agent discover what tools are available, how to use them with what ever arguments are needed and how to execute them? (</a:t>
            </a:r>
            <a:r>
              <a:rPr lang="en-GB" sz="4000" i="1" dirty="0"/>
              <a:t>like when we go to PyPi to get libraries</a:t>
            </a:r>
            <a:r>
              <a:rPr lang="en-GB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2600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4E474-D647-6DB6-0542-FC92842A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DD91B-7760-91E6-A95F-88CC86DA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C7C6C-DEE9-69D0-4D7C-9C46D6DDB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This is the Model Context Protocol for Agents to be able to do this.</a:t>
            </a:r>
          </a:p>
          <a:p>
            <a:pPr marL="0" indent="0">
              <a:buNone/>
            </a:pPr>
            <a:r>
              <a:rPr lang="en-GB" sz="4000" dirty="0"/>
              <a:t>In essence, an Agent can find a list of tools we have given it, with these tools able to inform an Agent what they are and how to use them.</a:t>
            </a:r>
          </a:p>
          <a:p>
            <a:pPr marL="0" indent="0">
              <a:buNone/>
            </a:pPr>
            <a:r>
              <a:rPr lang="en-GB" sz="4000" dirty="0"/>
              <a:t>The Agent runs the </a:t>
            </a:r>
            <a:r>
              <a:rPr lang="en-GB" sz="4000" dirty="0" err="1"/>
              <a:t>pipx</a:t>
            </a:r>
            <a:r>
              <a:rPr lang="en-GB" sz="4000" dirty="0"/>
              <a:t> to download and run them in a separate process.</a:t>
            </a:r>
          </a:p>
        </p:txBody>
      </p:sp>
    </p:spTree>
    <p:extLst>
      <p:ext uri="{BB962C8B-B14F-4D97-AF65-F5344CB8AC3E}">
        <p14:creationId xmlns:p14="http://schemas.microsoft.com/office/powerpoint/2010/main" val="3951560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4270F-3730-D8EC-80AE-6AB810CE1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2862-C9B2-5098-C585-45CF1B16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5C5C0-7B1A-D091-87A8-B733154B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4000" dirty="0"/>
              <a:t>The Langchain SQL Agent is something we can code in deterministically into an app but how would an Agent decide whether to use it and how to use it?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4000" dirty="0"/>
              <a:t>MCP enables an Agent to get a list of tools available by the MCP Server and how to use the tools.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4000" dirty="0"/>
              <a:t>An Agent can then decide whether to use these tools to create more context for further prompts.</a:t>
            </a:r>
          </a:p>
        </p:txBody>
      </p:sp>
    </p:spTree>
    <p:extLst>
      <p:ext uri="{BB962C8B-B14F-4D97-AF65-F5344CB8AC3E}">
        <p14:creationId xmlns:p14="http://schemas.microsoft.com/office/powerpoint/2010/main" val="3394301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F8CBC-7BA2-7523-FFA8-80E5C3BF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CE1D-7D12-57D7-A5B7-3FE552865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pic>
        <p:nvPicPr>
          <p:cNvPr id="5" name="Content Placeholder 4" descr="A screen shot of a computer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2DE882C9-519D-BBB5-68FE-B5255690F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54" y="1250062"/>
            <a:ext cx="9416091" cy="4575217"/>
          </a:xfrm>
          <a:solidFill>
            <a:srgbClr val="FAF0E6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7020CA-A612-8D52-607E-CEECD3753A24}"/>
              </a:ext>
            </a:extLst>
          </p:cNvPr>
          <p:cNvSpPr txBox="1"/>
          <p:nvPr/>
        </p:nvSpPr>
        <p:spPr>
          <a:xfrm>
            <a:off x="1387952" y="5936143"/>
            <a:ext cx="94160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linkClick r:id="rId2"/>
              </a:rPr>
              <a:t>https://mcpservers.org/servers/modelcontextprotocol/fetch</a:t>
            </a:r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813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4FBD2-643E-E5A9-8BF2-FB361259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34512-7B25-E453-E16C-FF65441E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Agent2Agent Protocol (A2A)?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311C-1016-A0EE-6E12-DD296E243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 complimentary protocol to allow one Agent to discover and understand what another Agent does.</a:t>
            </a:r>
          </a:p>
          <a:p>
            <a:pPr marL="0" indent="0">
              <a:buNone/>
            </a:pPr>
            <a:r>
              <a:rPr lang="en-GB" dirty="0"/>
              <a:t>It can then hand off work to the other Agent to get a desired response.</a:t>
            </a:r>
          </a:p>
          <a:p>
            <a:pPr marL="0" indent="0">
              <a:buNone/>
            </a:pPr>
            <a:r>
              <a:rPr lang="en-GB" dirty="0"/>
              <a:t>It might seem that tools, MCP, A2A are all similar!</a:t>
            </a:r>
          </a:p>
          <a:p>
            <a:pPr marL="0" indent="0">
              <a:buNone/>
            </a:pPr>
            <a:r>
              <a:rPr lang="en-GB" dirty="0"/>
              <a:t>At the end of the day Python is variables and code…all objects and essentially variations on functions.</a:t>
            </a:r>
          </a:p>
          <a:p>
            <a:pPr marL="0" indent="0">
              <a:buNone/>
            </a:pPr>
            <a:r>
              <a:rPr lang="en-GB" dirty="0"/>
              <a:t>Protocols, like HTTP for example, are implementations to enable communication between bits of code.</a:t>
            </a:r>
          </a:p>
          <a:p>
            <a:pPr marL="0" indent="0">
              <a:buNone/>
            </a:pPr>
            <a:r>
              <a:rPr lang="en-GB" i="1" dirty="0"/>
              <a:t>Next…an example from Google…</a:t>
            </a:r>
          </a:p>
        </p:txBody>
      </p:sp>
    </p:spTree>
    <p:extLst>
      <p:ext uri="{BB962C8B-B14F-4D97-AF65-F5344CB8AC3E}">
        <p14:creationId xmlns:p14="http://schemas.microsoft.com/office/powerpoint/2010/main" val="2253881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440AF-DD92-7905-6BC8-EE77381B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E1A2-83B2-14F0-BFEA-86142273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Google CRM Agent (1)</a:t>
            </a:r>
          </a:p>
        </p:txBody>
      </p:sp>
      <p:pic>
        <p:nvPicPr>
          <p:cNvPr id="5" name="Content Placeholder 4" descr="A diagram of a business&#10;&#10;AI-generated content may be incorrect.">
            <a:extLst>
              <a:ext uri="{FF2B5EF4-FFF2-40B4-BE49-F238E27FC236}">
                <a16:creationId xmlns:a16="http://schemas.microsoft.com/office/drawing/2014/main" id="{35C7062D-4D91-6909-2AFE-1BD94FA2B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32" y="1421289"/>
            <a:ext cx="10596563" cy="4870469"/>
          </a:xfrm>
          <a:solidFill>
            <a:srgbClr val="FAF0E6"/>
          </a:solidFill>
        </p:spPr>
      </p:pic>
    </p:spTree>
    <p:extLst>
      <p:ext uri="{BB962C8B-B14F-4D97-AF65-F5344CB8AC3E}">
        <p14:creationId xmlns:p14="http://schemas.microsoft.com/office/powerpoint/2010/main" val="3279871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030CE-F294-86B3-6F10-3AB61987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3853CA-F183-DF85-201B-ED2AB55C4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929" y="1969851"/>
            <a:ext cx="4972442" cy="41654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345D98-D59A-10E5-7C50-C924EE88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Google CRM Agent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58150-C7BB-C968-2A62-2A3812D7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516027"/>
            <a:ext cx="10515600" cy="4351338"/>
          </a:xfrm>
        </p:spPr>
        <p:txBody>
          <a:bodyPr/>
          <a:lstStyle/>
          <a:p>
            <a:r>
              <a:rPr lang="en-GB" sz="1600" dirty="0">
                <a:hlinkClick r:id="rId3"/>
              </a:rPr>
              <a:t>https://github.com/vladkol/crm-data-agent/blob/main/src/agents/data_agent/prompts/crm_business_analyst.py</a:t>
            </a:r>
            <a:endParaRPr lang="en-GB" sz="16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can learn a lot about best</a:t>
            </a:r>
          </a:p>
          <a:p>
            <a:pPr marL="0" indent="0">
              <a:buNone/>
            </a:pPr>
            <a:r>
              <a:rPr lang="en-GB" dirty="0"/>
              <a:t>practices for Context Engineering by </a:t>
            </a:r>
          </a:p>
          <a:p>
            <a:pPr marL="0" indent="0">
              <a:buNone/>
            </a:pPr>
            <a:r>
              <a:rPr lang="en-GB" dirty="0"/>
              <a:t>looking at big tech repos.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briefly look at:</a:t>
            </a:r>
          </a:p>
          <a:p>
            <a:pPr marL="0" indent="0">
              <a:buNone/>
            </a:pPr>
            <a:r>
              <a:rPr lang="en-GB" dirty="0"/>
              <a:t>06_demo_prompt_google_crm.md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430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C0DD9-54D0-8094-782E-FC61A05A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AD40-FA5F-10FF-8715-DCEC72D3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complete demo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B0A6-D1CF-DAFA-F9DD-82A1E0998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641893"/>
            <a:ext cx="10596715" cy="2316488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Using Cline to create a complete pipeline…in practice </a:t>
            </a:r>
            <a:r>
              <a:rPr lang="en-GB" sz="4000" dirty="0" err="1"/>
              <a:t>devs</a:t>
            </a:r>
            <a:r>
              <a:rPr lang="en-GB" sz="4000" dirty="0"/>
              <a:t> do it bit by bit.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654A0-0608-CB3F-A7DE-4EB046A95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5839" y="2842037"/>
            <a:ext cx="6645997" cy="3468141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EAEB8DA3-0059-566F-8C14-7FB67F4B8610}"/>
              </a:ext>
            </a:extLst>
          </p:cNvPr>
          <p:cNvSpPr/>
          <p:nvPr/>
        </p:nvSpPr>
        <p:spPr>
          <a:xfrm>
            <a:off x="5581238" y="4140044"/>
            <a:ext cx="1272865" cy="36463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58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C2438-6F39-1E74-B87F-C7E70AB4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3777-B841-1FE9-B5E3-7E294CD7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B872-4B2A-7D41-78EA-741C2586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r>
              <a:rPr lang="en-GB" dirty="0"/>
              <a:t>It has been 3 years since ChatGPT was released.</a:t>
            </a:r>
          </a:p>
          <a:p>
            <a:r>
              <a:rPr lang="en-GB" dirty="0"/>
              <a:t>The 6 months from arranging this talk to giving it is a very long time in AI with great changes in that time.</a:t>
            </a:r>
          </a:p>
          <a:p>
            <a:r>
              <a:rPr lang="en-GB" dirty="0"/>
              <a:t>The next 6 months/1 year/2 years?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https://craig-west.netlify.app/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https://evaluating-ai-agents.com/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https://github.com/Python-Test-Engineer/earl2025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3B412-5155-7A47-ABCA-B084173F6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12402" y="2545147"/>
            <a:ext cx="3215895" cy="32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6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1448</Words>
  <Application>Microsoft Office PowerPoint</Application>
  <PresentationFormat>Widescreen</PresentationFormat>
  <Paragraphs>156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Consolas</vt:lpstr>
      <vt:lpstr>Office Theme</vt:lpstr>
      <vt:lpstr>Packager Shell Object</vt:lpstr>
      <vt:lpstr>AI Agents in the Data Pipeline</vt:lpstr>
      <vt:lpstr>Desired Outcomes</vt:lpstr>
      <vt:lpstr>Raw code implementation of an Agent</vt:lpstr>
      <vt:lpstr>Raw code implementation of an Agent</vt:lpstr>
      <vt:lpstr>PowerPoint Presentation</vt:lpstr>
      <vt:lpstr>Agenda </vt:lpstr>
      <vt:lpstr>Model costs</vt:lpstr>
      <vt:lpstr>What is an AI Agent?</vt:lpstr>
      <vt:lpstr>Raw code implementation of an Agent</vt:lpstr>
      <vt:lpstr>PowerPoint Presentation</vt:lpstr>
      <vt:lpstr>PowerPoint Presentation</vt:lpstr>
      <vt:lpstr>Prompt Engineering</vt:lpstr>
      <vt:lpstr>Context Engineering</vt:lpstr>
      <vt:lpstr>Supplying more Context (information)</vt:lpstr>
      <vt:lpstr>What is Tool/Function calling? </vt:lpstr>
      <vt:lpstr>Reflection Pattern - looping</vt:lpstr>
      <vt:lpstr>What is Tool/Function calling?</vt:lpstr>
      <vt:lpstr>What is Tool/Function calling?</vt:lpstr>
      <vt:lpstr>What is Tool/Function calling?</vt:lpstr>
      <vt:lpstr>Another example of reflection</vt:lpstr>
      <vt:lpstr>What is the Model Context Protocol (MCP)?</vt:lpstr>
      <vt:lpstr>What is the Model Context Protocol (MCP)?</vt:lpstr>
      <vt:lpstr>What is the Model Context Protocol (MCP)?</vt:lpstr>
      <vt:lpstr>What is the Model Context Protocol (MCP)?</vt:lpstr>
      <vt:lpstr>What is the Agent2Agent Protocol (A2A)?</vt:lpstr>
      <vt:lpstr>Google CRM Agent (1)</vt:lpstr>
      <vt:lpstr>Google CRM Agent (2)</vt:lpstr>
      <vt:lpstr>A complete demo (1)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West</dc:creator>
  <cp:lastModifiedBy>Craig West</cp:lastModifiedBy>
  <cp:revision>123</cp:revision>
  <dcterms:created xsi:type="dcterms:W3CDTF">2025-08-05T17:00:53Z</dcterms:created>
  <dcterms:modified xsi:type="dcterms:W3CDTF">2025-12-10T13:21:39Z</dcterms:modified>
</cp:coreProperties>
</file>